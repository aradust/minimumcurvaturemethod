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98" r:id="rId3"/>
    <p:sldId id="300" r:id="rId4"/>
    <p:sldId id="301" r:id="rId5"/>
    <p:sldId id="295" r:id="rId6"/>
    <p:sldId id="296" r:id="rId7"/>
    <p:sldId id="297" r:id="rId8"/>
    <p:sldId id="299" r:id="rId9"/>
    <p:sldId id="303" r:id="rId10"/>
    <p:sldId id="30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6C9AD-38B8-BEE7-4314-943879428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9618FA-8F12-CFBE-9C5A-BA8D457C0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D24F2A-3DDC-CEA0-8511-63780F70C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A757-19CC-4BA0-AD79-6975010EF53A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EA99DC-2888-5DDD-D305-124C538E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504FCC-89DB-FFBD-5E8B-050A6375A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B50F-1737-4BE5-B9E5-3719E34B9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01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D55378-3E89-4874-B8E2-0BBD4CEB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70E76D-6056-4307-C049-878888444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85EE42-4DDD-2022-3082-8C2F3972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A757-19CC-4BA0-AD79-6975010EF53A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F75DE9-9151-68C7-7374-3925E893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488500-1800-689D-7737-E7F0C33C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B50F-1737-4BE5-B9E5-3719E34B9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39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B2D6A-FCED-B53C-DA79-78CE917C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5B2100-7BD8-6216-280F-71B892D97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A10AE6-1C62-E2A0-97D6-7BB766494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A757-19CC-4BA0-AD79-6975010EF53A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189916-E63E-A3AA-294A-049329A0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2DCE3D-913F-2F4F-0734-DE9F84C9D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B50F-1737-4BE5-B9E5-3719E34B9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595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05C720-126C-1E76-E311-0EE4E25A0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E4F5B4-C65D-44E1-873A-18AAF1BA6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AFA9E3-3FAD-57AE-74F5-45382742B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217550-FC77-0C53-D800-3A167B030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A757-19CC-4BA0-AD79-6975010EF53A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3514C4-5506-58CD-C7AD-0A31A18F4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7D0392-7FA9-F14B-9B59-24B60E1FF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B50F-1737-4BE5-B9E5-3719E34B9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00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E12F0C-C146-52CF-F666-DB1AB18A8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84014B-F40F-1117-4E50-3362C13DA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A5B5A0-B818-C9B7-61FC-A64A44F83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072804-BD17-067F-D47F-BAE060331A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0FB65FC-ED4F-EE4B-4AFA-47936119D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36725C5-C606-3CA7-0F7E-858785004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A757-19CC-4BA0-AD79-6975010EF53A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8A50D1E-FEC0-A125-C4E3-1141DB4A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1BA09F6-41F4-76AC-A26A-61B3A44FA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B50F-1737-4BE5-B9E5-3719E34B9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5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DE86A-1F9A-BAA8-5F2F-973EA10D4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4CB25D-6238-3E3E-0739-857A3F335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A757-19CC-4BA0-AD79-6975010EF53A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CAC45CE-7A6A-1BF4-5F88-06372248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98D40E-BE82-66ED-377F-7573D2471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B50F-1737-4BE5-B9E5-3719E34B9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642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35B9508-A9B8-EFC5-5ABE-C12C790DF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A757-19CC-4BA0-AD79-6975010EF53A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CDF7084-803B-6D40-2605-39098706A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C98857-31C3-4A02-86F0-475D01A1F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B50F-1737-4BE5-B9E5-3719E34B9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7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B03E9-961B-15B8-C8C8-9A8F8C903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C3DDA1-39FA-6198-6B06-F501AA50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9BAF57-44F4-FCD6-4A29-226AB7484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88A013-E9D7-B5A5-5664-11DEE6B7D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A757-19CC-4BA0-AD79-6975010EF53A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2CA664-6355-5EFF-A92C-4ADA4E9B3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6C1413-5D15-436D-DD41-5F52C759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B50F-1737-4BE5-B9E5-3719E34B9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767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53383-EEBE-E5A3-3FDE-D14552B87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45932C-8DF1-12CB-1A05-7A8654E6F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19C0F9-4B9A-E2F2-839F-0BEBD1A3F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55D768-D8FE-32BE-CFF8-E2ABF3BB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A757-19CC-4BA0-AD79-6975010EF53A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56F0E0-E558-CAB1-67D0-2B2B5F63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68C18E-0BB9-8462-562C-E5A3BDDD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B50F-1737-4BE5-B9E5-3719E34B9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499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D2A21D-B756-E4D4-0341-4B2551B68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5B5D02-FE22-59C0-DF7F-1A0711F2B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7DED1B-336C-5BD2-076A-377DEBD3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A757-19CC-4BA0-AD79-6975010EF53A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45321-07B6-5CB9-E199-16E43E23A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49A764-C397-499D-8F5B-449B8385F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B50F-1737-4BE5-B9E5-3719E34B9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7679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462AE2F-114E-05C8-804C-3619AF2B6E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BE88C2-69C4-EA6C-886D-29B8D09AB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280492-F36F-5985-65D5-A64F211B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9A757-19CC-4BA0-AD79-6975010EF53A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57296D-15F7-439E-856F-7B88587E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EBEAEE-DE72-180A-8FDA-5B42CD859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BB50F-1737-4BE5-B9E5-3719E34B9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02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28B53-D7BF-9E70-727A-B14832F36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A3D7B6-C09F-901F-AB1D-951DBCB9E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65444E-D303-2FB0-8C4B-2F0F666E20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9A757-19CC-4BA0-AD79-6975010EF53A}" type="datetimeFigureOut">
              <a:rPr lang="ru-RU" smtClean="0"/>
              <a:t>14.05.2025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D3882E-39D1-FE19-2C6A-6CB76F16C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23F9B4-7F20-01FA-CB29-B900C162E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BB50F-1737-4BE5-B9E5-3719E34B9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387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85E35D-B306-424A-9AD5-53F82998A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8123" y="-2625969"/>
            <a:ext cx="18201626" cy="1163280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AFAF4B-BC6C-4AAC-9076-470417CAF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491" y="1130014"/>
            <a:ext cx="9750000" cy="3058528"/>
          </a:xfrm>
        </p:spPr>
        <p:txBody>
          <a:bodyPr>
            <a:noAutofit/>
          </a:bodyPr>
          <a:lstStyle/>
          <a:p>
            <a:pPr algn="l"/>
            <a:r>
              <a:rPr lang="ru-RU" sz="4000" dirty="0">
                <a:solidFill>
                  <a:srgbClr val="54B686"/>
                </a:solidFill>
                <a:latin typeface="Montserrat" panose="00000500000000000000" pitchFamily="2" charset="-52"/>
              </a:rPr>
              <a:t>Алгоритм интерполяции</a:t>
            </a:r>
            <a:r>
              <a:rPr lang="en-US" sz="4000" dirty="0">
                <a:solidFill>
                  <a:srgbClr val="54B686"/>
                </a:solidFill>
                <a:latin typeface="Montserrat" panose="00000500000000000000" pitchFamily="2" charset="-52"/>
              </a:rPr>
              <a:t>/</a:t>
            </a:r>
            <a:r>
              <a:rPr lang="ru-RU" sz="4000" dirty="0">
                <a:solidFill>
                  <a:srgbClr val="54B686"/>
                </a:solidFill>
                <a:latin typeface="Montserrat" panose="00000500000000000000" pitchFamily="2" charset="-52"/>
              </a:rPr>
              <a:t>экстраполяции методом минимальной кривизны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1FBBEA-934D-47FC-B8E8-C52EB02A1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6491" y="5358207"/>
            <a:ext cx="5791201" cy="943532"/>
          </a:xfrm>
        </p:spPr>
        <p:txBody>
          <a:bodyPr>
            <a:normAutofit/>
          </a:bodyPr>
          <a:lstStyle/>
          <a:p>
            <a:r>
              <a:rPr lang="ru-RU" sz="2900" dirty="0"/>
              <a:t>Радустов Александр Вячеславович 4 курс ММФ НГУ</a:t>
            </a:r>
          </a:p>
          <a:p>
            <a:pPr algn="l"/>
            <a:endParaRPr lang="ru-RU" sz="1800" dirty="0">
              <a:latin typeface="Averta CY" panose="00000500000000000000" pitchFamily="50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9536D3-3FEC-49B3-A9C2-934092905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5811" y="740534"/>
            <a:ext cx="1976450" cy="1564996"/>
          </a:xfrm>
          <a:prstGeom prst="rect">
            <a:avLst/>
          </a:prstGeom>
        </p:spPr>
      </p:pic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5A9A7342-47E0-49C2-9F22-ED90A9E95E95}"/>
              </a:ext>
            </a:extLst>
          </p:cNvPr>
          <p:cNvSpPr txBox="1">
            <a:spLocks/>
          </p:cNvSpPr>
          <p:nvPr/>
        </p:nvSpPr>
        <p:spPr>
          <a:xfrm>
            <a:off x="875810" y="5741483"/>
            <a:ext cx="5791201" cy="943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sz="1800" dirty="0">
              <a:solidFill>
                <a:srgbClr val="979797"/>
              </a:solidFill>
              <a:latin typeface="Averta CY" panose="00000500000000000000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81641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7FF8C-EAF2-EF1A-F043-888F1F661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5F59515-5CC9-C018-38EE-5801D9CA8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65111" y="-564326"/>
            <a:ext cx="13882002" cy="9237148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3CE33E8-36E0-82D8-DB56-BD9D333E368D}"/>
              </a:ext>
            </a:extLst>
          </p:cNvPr>
          <p:cNvSpPr/>
          <p:nvPr/>
        </p:nvSpPr>
        <p:spPr>
          <a:xfrm rot="5400000">
            <a:off x="5584937" y="-5150304"/>
            <a:ext cx="1022125" cy="11748306"/>
          </a:xfrm>
          <a:prstGeom prst="roundRect">
            <a:avLst/>
          </a:prstGeom>
          <a:solidFill>
            <a:srgbClr val="54B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4438C5D-3201-558D-ED19-BC9EED5A6AA7}"/>
              </a:ext>
            </a:extLst>
          </p:cNvPr>
          <p:cNvSpPr txBox="1">
            <a:spLocks/>
          </p:cNvSpPr>
          <p:nvPr/>
        </p:nvSpPr>
        <p:spPr>
          <a:xfrm>
            <a:off x="803121" y="431617"/>
            <a:ext cx="12196442" cy="5844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0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C24605-3B3B-B1FE-6BC7-96D88CFFB850}"/>
              </a:ext>
            </a:extLst>
          </p:cNvPr>
          <p:cNvSpPr txBox="1"/>
          <p:nvPr/>
        </p:nvSpPr>
        <p:spPr>
          <a:xfrm>
            <a:off x="4119911" y="369749"/>
            <a:ext cx="8431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Montserrat" panose="00000500000000000000" pitchFamily="2" charset="-52"/>
              </a:rPr>
              <a:t>Цель работы</a:t>
            </a:r>
            <a:endParaRPr lang="ru-RU" sz="36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11F721-3784-9A26-0CB5-C81D51B98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121" y="1646516"/>
            <a:ext cx="11847650" cy="4351338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ru-RU" dirty="0"/>
              <a:t>Изучить метод минимальной кривизны (</a:t>
            </a:r>
            <a:r>
              <a:rPr lang="en-US" dirty="0"/>
              <a:t>Minimum curvature method)</a:t>
            </a:r>
            <a:r>
              <a:rPr lang="ru-RU" dirty="0"/>
              <a:t>.</a:t>
            </a:r>
            <a:endParaRPr lang="en-US" dirty="0"/>
          </a:p>
          <a:p>
            <a:pPr marL="514350" indent="-514350">
              <a:buAutoNum type="arabicParenR"/>
            </a:pPr>
            <a:r>
              <a:rPr lang="ru-RU" dirty="0"/>
              <a:t>Разработать и протестировать код реализации метода.</a:t>
            </a:r>
          </a:p>
        </p:txBody>
      </p:sp>
    </p:spTree>
    <p:extLst>
      <p:ext uri="{BB962C8B-B14F-4D97-AF65-F5344CB8AC3E}">
        <p14:creationId xmlns:p14="http://schemas.microsoft.com/office/powerpoint/2010/main" val="2656860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9650D-BBE5-583E-AF52-CDDCB70DB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F599B36-EAA7-709B-EFA0-E7B5EC8A1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65111" y="-564326"/>
            <a:ext cx="13882002" cy="9237148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2108AF8-9193-0C84-48CD-2C7E85324F6D}"/>
              </a:ext>
            </a:extLst>
          </p:cNvPr>
          <p:cNvSpPr/>
          <p:nvPr/>
        </p:nvSpPr>
        <p:spPr>
          <a:xfrm rot="5400000">
            <a:off x="5584937" y="-5150304"/>
            <a:ext cx="1022125" cy="11748306"/>
          </a:xfrm>
          <a:prstGeom prst="roundRect">
            <a:avLst/>
          </a:prstGeom>
          <a:solidFill>
            <a:srgbClr val="54B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7C17F61-713B-45CA-F89E-30EC2C020ADE}"/>
              </a:ext>
            </a:extLst>
          </p:cNvPr>
          <p:cNvSpPr txBox="1">
            <a:spLocks/>
          </p:cNvSpPr>
          <p:nvPr/>
        </p:nvSpPr>
        <p:spPr>
          <a:xfrm>
            <a:off x="803121" y="431617"/>
            <a:ext cx="12196442" cy="5844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0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3241E2-0D7D-6B8E-FDB6-B9434DA5D4D9}"/>
              </a:ext>
            </a:extLst>
          </p:cNvPr>
          <p:cNvSpPr txBox="1"/>
          <p:nvPr/>
        </p:nvSpPr>
        <p:spPr>
          <a:xfrm>
            <a:off x="1805993" y="366388"/>
            <a:ext cx="8431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Montserrat" panose="00000500000000000000" pitchFamily="2" charset="-52"/>
              </a:rPr>
              <a:t>Метод ближайшего соседа</a:t>
            </a:r>
            <a:endParaRPr lang="ru-RU" sz="36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ACEE34-A0A3-9093-BA50-E95521AB9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121" y="1574276"/>
            <a:ext cx="10515600" cy="478572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В начале осуществляем интерполяцию методом ближайшего соседа.</a:t>
            </a:r>
          </a:p>
          <a:p>
            <a:pPr marL="0" indent="0">
              <a:buNone/>
            </a:pPr>
            <a:r>
              <a:rPr lang="ru-RU" dirty="0"/>
              <a:t>Присваиваем значение ближайшей точки, лежащей в радиусе влияния</a:t>
            </a:r>
          </a:p>
          <a:p>
            <a:r>
              <a:rPr lang="ru-RU" dirty="0"/>
              <a:t>Преимущества:</a:t>
            </a:r>
          </a:p>
          <a:p>
            <a:pPr marL="0" indent="0">
              <a:buNone/>
            </a:pPr>
            <a:r>
              <a:rPr lang="ru-RU" dirty="0"/>
              <a:t>- быстрый алгоритм</a:t>
            </a:r>
          </a:p>
          <a:p>
            <a:pPr marL="0" indent="0">
              <a:buNone/>
            </a:pPr>
            <a:r>
              <a:rPr lang="ru-RU" dirty="0"/>
              <a:t>- результирующая поверхность является интерполяционной и гладкой, как ожидается, в точках данных.</a:t>
            </a:r>
          </a:p>
          <a:p>
            <a:r>
              <a:rPr lang="ru-RU" dirty="0"/>
              <a:t>Недостатки:</a:t>
            </a:r>
          </a:p>
          <a:p>
            <a:pPr marL="0" indent="0">
              <a:buNone/>
            </a:pPr>
            <a:r>
              <a:rPr lang="ru-RU" dirty="0"/>
              <a:t>- область действия функции f ограничена выпуклой огибающей точек XYZ</a:t>
            </a:r>
          </a:p>
          <a:p>
            <a:pPr marL="0" indent="0">
              <a:buNone/>
            </a:pPr>
            <a:r>
              <a:rPr lang="ru-RU" dirty="0"/>
              <a:t>- форма результирующей поверхности неприемлема в некоторых областях, таких как геология или гидрогеология.</a:t>
            </a:r>
          </a:p>
          <a:p>
            <a:r>
              <a:rPr lang="ru-RU" dirty="0"/>
              <a:t>Приложение:</a:t>
            </a:r>
          </a:p>
          <a:p>
            <a:pPr marL="0" indent="0">
              <a:buNone/>
            </a:pPr>
            <a:r>
              <a:rPr lang="ru-RU" dirty="0"/>
              <a:t>- Метод естественного соседства в основном используется в ГИС-системах в качестве цифровой модели местности и быстрой интерполяции данных о местности, обеспечивающих гладкую поверхность.</a:t>
            </a:r>
          </a:p>
        </p:txBody>
      </p:sp>
    </p:spTree>
    <p:extLst>
      <p:ext uri="{BB962C8B-B14F-4D97-AF65-F5344CB8AC3E}">
        <p14:creationId xmlns:p14="http://schemas.microsoft.com/office/powerpoint/2010/main" val="253867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4FD99-4ADA-6E7A-7F2A-7CB980FE1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0479E5B-B3AC-E09D-58DA-7FF4CEFCA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65111" y="-564326"/>
            <a:ext cx="13882002" cy="9237148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B6B6566-9355-D678-98EE-4464AEB42CFB}"/>
              </a:ext>
            </a:extLst>
          </p:cNvPr>
          <p:cNvSpPr/>
          <p:nvPr/>
        </p:nvSpPr>
        <p:spPr>
          <a:xfrm rot="5400000">
            <a:off x="5584937" y="-5150304"/>
            <a:ext cx="1022125" cy="11748306"/>
          </a:xfrm>
          <a:prstGeom prst="roundRect">
            <a:avLst/>
          </a:prstGeom>
          <a:solidFill>
            <a:srgbClr val="54B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BA95985-4958-2ADC-A76B-2F7399C26C51}"/>
              </a:ext>
            </a:extLst>
          </p:cNvPr>
          <p:cNvSpPr txBox="1">
            <a:spLocks/>
          </p:cNvSpPr>
          <p:nvPr/>
        </p:nvSpPr>
        <p:spPr>
          <a:xfrm>
            <a:off x="803121" y="431617"/>
            <a:ext cx="12196442" cy="5844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0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AEECF2-1F70-B21B-87CF-E62C8CD8DF4B}"/>
              </a:ext>
            </a:extLst>
          </p:cNvPr>
          <p:cNvSpPr txBox="1"/>
          <p:nvPr/>
        </p:nvSpPr>
        <p:spPr>
          <a:xfrm>
            <a:off x="1805993" y="366388"/>
            <a:ext cx="8431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Montserrat" panose="00000500000000000000" pitchFamily="2" charset="-52"/>
              </a:rPr>
              <a:t>Метод обратного расстояния</a:t>
            </a:r>
            <a:endParaRPr lang="ru-RU" sz="36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85EDFD9-E779-7DA0-CC46-8A039C72E33A}"/>
              </a:ext>
            </a:extLst>
          </p:cNvPr>
          <p:cNvSpPr txBox="1">
            <a:spLocks/>
          </p:cNvSpPr>
          <p:nvPr/>
        </p:nvSpPr>
        <p:spPr>
          <a:xfrm>
            <a:off x="838199" y="1687398"/>
            <a:ext cx="10515600" cy="5329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Помимо метода обратного соседа можно использовать для интерполяции метод обратного расстояния, где мы усредняем точки, лежащие внутри радиуса влияния с помощью весовой функции.</a:t>
            </a:r>
          </a:p>
          <a:p>
            <a:r>
              <a:rPr lang="ru-RU" dirty="0"/>
              <a:t>Преимущества: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- простая компьютерная реализация; из-за своей простоты метод реализован практически во всех пакетах программного обеспечения для построения сетки</a:t>
            </a:r>
          </a:p>
          <a:p>
            <a:r>
              <a:rPr lang="ru-RU" dirty="0"/>
              <a:t>Недостатки: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- большое потребление компьютерного времени при большом количестве точек n</a:t>
            </a:r>
          </a:p>
        </p:txBody>
      </p:sp>
    </p:spTree>
    <p:extLst>
      <p:ext uri="{BB962C8B-B14F-4D97-AF65-F5344CB8AC3E}">
        <p14:creationId xmlns:p14="http://schemas.microsoft.com/office/powerpoint/2010/main" val="1492742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B9D9F-4B95-4981-64D7-AA52DDD61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03AFCD2-EFA6-3721-3581-20CD7D0AA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65111" y="-564326"/>
            <a:ext cx="13882002" cy="9237148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F6FD68D-A20A-C8C4-AF70-B9A69DAC8413}"/>
              </a:ext>
            </a:extLst>
          </p:cNvPr>
          <p:cNvSpPr/>
          <p:nvPr/>
        </p:nvSpPr>
        <p:spPr>
          <a:xfrm rot="5400000">
            <a:off x="5584937" y="-5150304"/>
            <a:ext cx="1022125" cy="11748306"/>
          </a:xfrm>
          <a:prstGeom prst="roundRect">
            <a:avLst/>
          </a:prstGeom>
          <a:solidFill>
            <a:srgbClr val="54B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7339602-31AB-4528-F674-C92CF77B685A}"/>
              </a:ext>
            </a:extLst>
          </p:cNvPr>
          <p:cNvSpPr txBox="1">
            <a:spLocks/>
          </p:cNvSpPr>
          <p:nvPr/>
        </p:nvSpPr>
        <p:spPr>
          <a:xfrm>
            <a:off x="803121" y="431617"/>
            <a:ext cx="12196442" cy="5844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0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B651CD-C597-C75A-76F8-4082E3A78FC7}"/>
              </a:ext>
            </a:extLst>
          </p:cNvPr>
          <p:cNvSpPr txBox="1"/>
          <p:nvPr/>
        </p:nvSpPr>
        <p:spPr>
          <a:xfrm>
            <a:off x="1805993" y="366388"/>
            <a:ext cx="84315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Montserrat" panose="00000500000000000000" pitchFamily="2" charset="-52"/>
              </a:rPr>
              <a:t>Метод минимальной кривизны</a:t>
            </a:r>
            <a:endParaRPr lang="ru-RU" sz="36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8FFCBD-0A73-53AB-68DE-28839510E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693" y="1646516"/>
            <a:ext cx="11748307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После интерполяции производим экстраполяцию для узлов сетки без заданного значения </a:t>
            </a:r>
            <a:r>
              <a:rPr lang="ru-RU" b="1" dirty="0"/>
              <a:t>классическим</a:t>
            </a:r>
            <a:r>
              <a:rPr lang="ru-RU" dirty="0"/>
              <a:t> методом минимальной кривизны</a:t>
            </a:r>
          </a:p>
          <a:p>
            <a:r>
              <a:rPr lang="ru-RU" dirty="0"/>
              <a:t>Преимущества:</a:t>
            </a:r>
          </a:p>
          <a:p>
            <a:pPr marL="0" indent="0">
              <a:buNone/>
            </a:pPr>
            <a:r>
              <a:rPr lang="ru-RU" dirty="0"/>
              <a:t>- скорость вычислений высока, и увеличение числа точек XYZ мало влияет на снижение скорости вычислений.</a:t>
            </a:r>
          </a:p>
          <a:p>
            <a:pPr marL="0" indent="0">
              <a:buNone/>
            </a:pPr>
            <a:r>
              <a:rPr lang="ru-RU" dirty="0"/>
              <a:t>- подходящий метод для большого количества точек XYZ.</a:t>
            </a:r>
          </a:p>
          <a:p>
            <a:r>
              <a:rPr lang="ru-RU" dirty="0"/>
              <a:t>Недостатки:</a:t>
            </a:r>
          </a:p>
          <a:p>
            <a:pPr marL="0" indent="0">
              <a:buNone/>
            </a:pPr>
            <a:r>
              <a:rPr lang="ru-RU" dirty="0"/>
              <a:t>- сложный алгоритм и компьютерная реализация</a:t>
            </a:r>
          </a:p>
          <a:p>
            <a:pPr marL="0" indent="0">
              <a:buNone/>
            </a:pPr>
            <a:r>
              <a:rPr lang="ru-RU" dirty="0"/>
              <a:t>- плохая возможность сохранения тенденций экстраполяции.</a:t>
            </a:r>
          </a:p>
          <a:p>
            <a:r>
              <a:rPr lang="ru-RU" dirty="0"/>
              <a:t>Приложение:</a:t>
            </a:r>
          </a:p>
          <a:p>
            <a:pPr marL="0" indent="0">
              <a:buNone/>
            </a:pPr>
            <a:r>
              <a:rPr lang="ru-RU" dirty="0"/>
              <a:t>- универсальный метод, пригодный для плавной аппроксимации и интерполяции (например, распределение температуры, напора воды, потенциальных полей и так далее).</a:t>
            </a:r>
          </a:p>
        </p:txBody>
      </p:sp>
    </p:spTree>
    <p:extLst>
      <p:ext uri="{BB962C8B-B14F-4D97-AF65-F5344CB8AC3E}">
        <p14:creationId xmlns:p14="http://schemas.microsoft.com/office/powerpoint/2010/main" val="1774155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3F13D-4A07-57DE-D671-624276CF0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E0759A3-EBD5-604E-EEF7-4921457AB28D}"/>
              </a:ext>
            </a:extLst>
          </p:cNvPr>
          <p:cNvSpPr/>
          <p:nvPr/>
        </p:nvSpPr>
        <p:spPr>
          <a:xfrm rot="5400000">
            <a:off x="5584937" y="-5150304"/>
            <a:ext cx="1022125" cy="11748306"/>
          </a:xfrm>
          <a:prstGeom prst="roundRect">
            <a:avLst/>
          </a:prstGeom>
          <a:solidFill>
            <a:srgbClr val="54B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AD466-1838-0D30-314B-40D37B9563EF}"/>
              </a:ext>
            </a:extLst>
          </p:cNvPr>
          <p:cNvSpPr txBox="1">
            <a:spLocks/>
          </p:cNvSpPr>
          <p:nvPr/>
        </p:nvSpPr>
        <p:spPr>
          <a:xfrm>
            <a:off x="803121" y="431617"/>
            <a:ext cx="12196442" cy="5844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0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522142-CCD1-4E7F-786F-C5B4E7602F58}"/>
              </a:ext>
            </a:extLst>
          </p:cNvPr>
          <p:cNvSpPr txBox="1"/>
          <p:nvPr/>
        </p:nvSpPr>
        <p:spPr>
          <a:xfrm>
            <a:off x="221847" y="366388"/>
            <a:ext cx="1277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Montserrat" panose="00000500000000000000" pitchFamily="2" charset="-52"/>
              </a:rPr>
              <a:t>Классический метод минимальной кривизны</a:t>
            </a:r>
            <a:endParaRPr lang="ru-RU" sz="36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16721D3F-1FC3-113D-DD93-7A0D405B9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7404" y="4241115"/>
            <a:ext cx="2810807" cy="71547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554A33-D7EA-4FE9-656D-74FE517F574F}"/>
              </a:ext>
            </a:extLst>
          </p:cNvPr>
          <p:cNvSpPr txBox="1"/>
          <p:nvPr/>
        </p:nvSpPr>
        <p:spPr>
          <a:xfrm>
            <a:off x="491002" y="4368022"/>
            <a:ext cx="8163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Решаем уравнение                                            .                                             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6E7BA5F-0FA7-F169-9C44-1ADBCA5C0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21" y="2489978"/>
            <a:ext cx="9134475" cy="13430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D3E220E-9A28-0A7A-4D2B-00B64FFF623D}"/>
              </a:ext>
            </a:extLst>
          </p:cNvPr>
          <p:cNvSpPr txBox="1"/>
          <p:nvPr/>
        </p:nvSpPr>
        <p:spPr>
          <a:xfrm>
            <a:off x="221846" y="1799584"/>
            <a:ext cx="10750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Необходимо минимизировать суммарную кривизну поверхности</a:t>
            </a:r>
            <a:r>
              <a:rPr lang="en-US" sz="2400" dirty="0"/>
              <a:t>                       :</a:t>
            </a:r>
            <a:endParaRPr lang="ru-RU" sz="24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1C4AB77-2F3C-E2CD-C395-74866707A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4896" y="1731962"/>
            <a:ext cx="1370677" cy="59690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B8B760F-51C9-9261-09A3-5E9080D2778F}"/>
              </a:ext>
            </a:extLst>
          </p:cNvPr>
          <p:cNvSpPr txBox="1"/>
          <p:nvPr/>
        </p:nvSpPr>
        <p:spPr>
          <a:xfrm>
            <a:off x="9937596" y="3012924"/>
            <a:ext cx="292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07561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4800B-FDBA-5D47-A03B-549F9BE81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9C5352F-3B06-2A1F-1830-3FAC9A95D664}"/>
              </a:ext>
            </a:extLst>
          </p:cNvPr>
          <p:cNvSpPr/>
          <p:nvPr/>
        </p:nvSpPr>
        <p:spPr>
          <a:xfrm rot="5400000">
            <a:off x="5584937" y="-5150304"/>
            <a:ext cx="1022125" cy="11748306"/>
          </a:xfrm>
          <a:prstGeom prst="roundRect">
            <a:avLst/>
          </a:prstGeom>
          <a:solidFill>
            <a:srgbClr val="54B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1E6468C-2AC9-7C62-C66A-3676AEE89233}"/>
              </a:ext>
            </a:extLst>
          </p:cNvPr>
          <p:cNvSpPr txBox="1">
            <a:spLocks/>
          </p:cNvSpPr>
          <p:nvPr/>
        </p:nvSpPr>
        <p:spPr>
          <a:xfrm>
            <a:off x="803121" y="431617"/>
            <a:ext cx="12196442" cy="5844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0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925589-4F54-FA21-1E17-0BD5CC453D6A}"/>
              </a:ext>
            </a:extLst>
          </p:cNvPr>
          <p:cNvSpPr txBox="1"/>
          <p:nvPr/>
        </p:nvSpPr>
        <p:spPr>
          <a:xfrm>
            <a:off x="221847" y="366388"/>
            <a:ext cx="1277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Montserrat" panose="00000500000000000000" pitchFamily="2" charset="-52"/>
              </a:rPr>
              <a:t>Классический метод минимальной кривизны</a:t>
            </a:r>
            <a:endParaRPr lang="ru-RU" sz="36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931E30-EC31-5F52-A858-457890E8E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приближения би</a:t>
            </a:r>
            <a:r>
              <a:rPr lang="en-US" dirty="0"/>
              <a:t>-</a:t>
            </a:r>
            <a:r>
              <a:rPr lang="ru-RU" dirty="0"/>
              <a:t>лапласиана используем 13-точечную конечно-разностную схему</a:t>
            </a:r>
            <a:r>
              <a:rPr lang="en-US" dirty="0"/>
              <a:t> 4-</a:t>
            </a:r>
            <a:r>
              <a:rPr lang="ru-RU" dirty="0"/>
              <a:t>порядка точности.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89579B-F498-1A9C-65CC-D98AAFF39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755" y="2715419"/>
            <a:ext cx="976312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82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EF801-BBCD-2263-463C-CC45DF790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0168C09-9734-66EC-D8BE-E5615740B372}"/>
              </a:ext>
            </a:extLst>
          </p:cNvPr>
          <p:cNvSpPr/>
          <p:nvPr/>
        </p:nvSpPr>
        <p:spPr>
          <a:xfrm rot="5400000">
            <a:off x="5099456" y="-4664822"/>
            <a:ext cx="1993088" cy="11748306"/>
          </a:xfrm>
          <a:prstGeom prst="roundRect">
            <a:avLst/>
          </a:prstGeom>
          <a:solidFill>
            <a:srgbClr val="54B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C3FB2D9-945B-174A-0BA5-9A95305ACDEF}"/>
              </a:ext>
            </a:extLst>
          </p:cNvPr>
          <p:cNvSpPr txBox="1">
            <a:spLocks/>
          </p:cNvSpPr>
          <p:nvPr/>
        </p:nvSpPr>
        <p:spPr>
          <a:xfrm>
            <a:off x="803121" y="431617"/>
            <a:ext cx="12196442" cy="5844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0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4220D-12C3-0C3D-F1E7-8B81EC995667}"/>
              </a:ext>
            </a:extLst>
          </p:cNvPr>
          <p:cNvSpPr txBox="1"/>
          <p:nvPr/>
        </p:nvSpPr>
        <p:spPr>
          <a:xfrm>
            <a:off x="221847" y="366388"/>
            <a:ext cx="127763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Montserrat" panose="00000500000000000000" pitchFamily="2" charset="-52"/>
              </a:rPr>
              <a:t>Результаты моделирования поверхности с использованием классического метода минимальной кривизны</a:t>
            </a:r>
            <a:endParaRPr lang="ru-RU" sz="36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46FC89-0F0F-8A98-C8CC-54AD939A5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A322DA-7E6D-71C0-3448-FE50EF3B8E57}"/>
              </a:ext>
            </a:extLst>
          </p:cNvPr>
          <p:cNvSpPr txBox="1"/>
          <p:nvPr/>
        </p:nvSpPr>
        <p:spPr>
          <a:xfrm>
            <a:off x="942680" y="2319394"/>
            <a:ext cx="4037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«Образцовая поверхность»  по предоставленным данным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E0958F-1369-AB1F-EFC3-3B434DA80B47}"/>
              </a:ext>
            </a:extLst>
          </p:cNvPr>
          <p:cNvSpPr txBox="1"/>
          <p:nvPr/>
        </p:nvSpPr>
        <p:spPr>
          <a:xfrm>
            <a:off x="5295534" y="2271104"/>
            <a:ext cx="6902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Поверхность, построенная при помощи классического алгоритма.</a:t>
            </a:r>
          </a:p>
          <a:p>
            <a:r>
              <a:rPr lang="ru-RU" dirty="0"/>
              <a:t>Интерполяция при помощи «ближайшего соседа». Шаг по </a:t>
            </a:r>
            <a:r>
              <a:rPr lang="en-US" dirty="0"/>
              <a:t>x </a:t>
            </a:r>
            <a:r>
              <a:rPr lang="ru-RU" dirty="0"/>
              <a:t>и </a:t>
            </a:r>
            <a:r>
              <a:rPr lang="en-US" dirty="0"/>
              <a:t>y =50,</a:t>
            </a:r>
          </a:p>
          <a:p>
            <a:r>
              <a:rPr lang="ru-RU" dirty="0"/>
              <a:t>Радиус влияния = 1</a:t>
            </a:r>
            <a:br>
              <a:rPr lang="ru-RU" dirty="0"/>
            </a:b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94A6AF2-99D8-3568-653B-4607F7F09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69" y="3015420"/>
            <a:ext cx="4142069" cy="349407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48F09AF-6ABA-1C07-5861-992F9C4C6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583" y="3315841"/>
            <a:ext cx="4142069" cy="340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40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7AAAE-1648-E5D4-D83A-44F97942B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6011E0F-ADC5-EBD9-9425-3817F5B26870}"/>
              </a:ext>
            </a:extLst>
          </p:cNvPr>
          <p:cNvSpPr/>
          <p:nvPr/>
        </p:nvSpPr>
        <p:spPr>
          <a:xfrm rot="5400000">
            <a:off x="5419035" y="-4984401"/>
            <a:ext cx="1353930" cy="11748306"/>
          </a:xfrm>
          <a:prstGeom prst="roundRect">
            <a:avLst/>
          </a:prstGeom>
          <a:solidFill>
            <a:srgbClr val="54B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A0BFCD3-EADD-541F-BF50-913E064B097B}"/>
              </a:ext>
            </a:extLst>
          </p:cNvPr>
          <p:cNvSpPr txBox="1">
            <a:spLocks/>
          </p:cNvSpPr>
          <p:nvPr/>
        </p:nvSpPr>
        <p:spPr>
          <a:xfrm>
            <a:off x="803121" y="431617"/>
            <a:ext cx="12196442" cy="5844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0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9ACB31-92A7-8AAB-7A9D-166979CCE0D2}"/>
              </a:ext>
            </a:extLst>
          </p:cNvPr>
          <p:cNvSpPr txBox="1"/>
          <p:nvPr/>
        </p:nvSpPr>
        <p:spPr>
          <a:xfrm>
            <a:off x="221847" y="366388"/>
            <a:ext cx="12776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Montserrat" panose="00000500000000000000" pitchFamily="2" charset="-52"/>
              </a:rPr>
              <a:t>Модифицированный метод минимальной кривизны</a:t>
            </a:r>
            <a:endParaRPr lang="ru-RU" sz="36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8A8114-1F80-B87C-9BC8-7A8A846CE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Помимо</a:t>
            </a:r>
            <a:r>
              <a:rPr lang="en-US" dirty="0"/>
              <a:t> </a:t>
            </a:r>
            <a:r>
              <a:rPr lang="ru-RU" dirty="0"/>
              <a:t>классического метода можно использовать модифицированный метод минимальной кривизны: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где                           - параметр натяжения.</a:t>
            </a:r>
          </a:p>
          <a:p>
            <a:pPr marL="0" indent="0">
              <a:buNone/>
            </a:pPr>
            <a:r>
              <a:rPr lang="ru-RU" dirty="0"/>
              <a:t>На данный момент этот метод в данной работе не применялся.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998A16-3E23-C5E5-5017-1EB6B271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21" y="2655560"/>
            <a:ext cx="8982075" cy="100012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FB5A038-18B4-5094-BCE8-4486A9BC1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008" y="3559834"/>
            <a:ext cx="2012868" cy="70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16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04F73-37B8-0FFF-C505-8DA815D35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8320794-DDE2-E158-CCD0-C1083A6BBE76}"/>
              </a:ext>
            </a:extLst>
          </p:cNvPr>
          <p:cNvSpPr/>
          <p:nvPr/>
        </p:nvSpPr>
        <p:spPr>
          <a:xfrm rot="5400000">
            <a:off x="5660352" y="-5225718"/>
            <a:ext cx="871295" cy="11748306"/>
          </a:xfrm>
          <a:prstGeom prst="roundRect">
            <a:avLst/>
          </a:prstGeom>
          <a:solidFill>
            <a:srgbClr val="54B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BCB94D7-1EDE-7162-49A1-6C64CB57CFFC}"/>
              </a:ext>
            </a:extLst>
          </p:cNvPr>
          <p:cNvSpPr txBox="1">
            <a:spLocks/>
          </p:cNvSpPr>
          <p:nvPr/>
        </p:nvSpPr>
        <p:spPr>
          <a:xfrm>
            <a:off x="803121" y="431617"/>
            <a:ext cx="12196442" cy="5844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0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6CEEF5-70FC-6436-2A2C-DDCF94F98348}"/>
              </a:ext>
            </a:extLst>
          </p:cNvPr>
          <p:cNvSpPr txBox="1"/>
          <p:nvPr/>
        </p:nvSpPr>
        <p:spPr>
          <a:xfrm>
            <a:off x="221847" y="366388"/>
            <a:ext cx="1277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Montserrat" panose="00000500000000000000" pitchFamily="2" charset="-52"/>
              </a:rPr>
              <a:t>				  Литература</a:t>
            </a:r>
            <a:endParaRPr lang="ru-RU" sz="3600" b="1" dirty="0">
              <a:solidFill>
                <a:srgbClr val="22222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0EBBE3-FDA1-33E5-0818-C84C719BB4FB}"/>
              </a:ext>
            </a:extLst>
          </p:cNvPr>
          <p:cNvSpPr txBox="1"/>
          <p:nvPr/>
        </p:nvSpPr>
        <p:spPr>
          <a:xfrm>
            <a:off x="688157" y="1800520"/>
            <a:ext cx="110953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1) </a:t>
            </a:r>
            <a:r>
              <a:rPr lang="en-US" sz="2400" dirty="0"/>
              <a:t>Miroslav Dressler INTERPOLATION METHODS FOR CONSTRUCTION OF SURFACES, 2007</a:t>
            </a:r>
            <a:endParaRPr lang="ru-RU" sz="2400" dirty="0"/>
          </a:p>
          <a:p>
            <a:r>
              <a:rPr lang="ru-RU" sz="2400" dirty="0"/>
              <a:t>2) </a:t>
            </a:r>
            <a:r>
              <a:rPr lang="en-US" sz="2400" dirty="0"/>
              <a:t>W.H.F. Smith, </a:t>
            </a:r>
            <a:r>
              <a:rPr lang="en-US" sz="2400" dirty="0" err="1"/>
              <a:t>P.Wessel</a:t>
            </a:r>
            <a:r>
              <a:rPr lang="en-US" sz="2400" dirty="0"/>
              <a:t>, Gridding with continuous curvature splines in tension, Geophysics, 1990 </a:t>
            </a:r>
            <a:endParaRPr lang="ru-RU" sz="2400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3895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</TotalTime>
  <Words>424</Words>
  <Application>Microsoft Office PowerPoint</Application>
  <PresentationFormat>Широкоэкранный</PresentationFormat>
  <Paragraphs>52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Averta CY</vt:lpstr>
      <vt:lpstr>Calibri</vt:lpstr>
      <vt:lpstr>Calibri Light</vt:lpstr>
      <vt:lpstr>Montserrat</vt:lpstr>
      <vt:lpstr>Тема Office</vt:lpstr>
      <vt:lpstr>Алгоритм интерполяции/экстраполяции методом минимальной кривизны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Радустов</dc:creator>
  <cp:lastModifiedBy>Александр Радустов</cp:lastModifiedBy>
  <cp:revision>4</cp:revision>
  <dcterms:created xsi:type="dcterms:W3CDTF">2025-05-13T08:46:15Z</dcterms:created>
  <dcterms:modified xsi:type="dcterms:W3CDTF">2025-05-14T11:25:45Z</dcterms:modified>
</cp:coreProperties>
</file>